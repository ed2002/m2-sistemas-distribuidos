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a4fb559-2701-1a8c-4cca-67792369e5a1}">
          <p14:sldIdLst>
            <p14:sldId id="256"/>
          </p14:sldIdLst>
        </p14:section>
        <p14:section name="Fundamentação" id="{b396b8b6-532a-041a-91fb-21c388a434d5}">
          <p14:sldIdLst>
            <p14:sldId id="257"/>
          </p14:sldIdLst>
        </p14:section>
        <p14:section name="Ambiente" id="{ceccb92a-c50e-c8bf-c2fc-57dca52ea067}">
          <p14:sldIdLst>
            <p14:sldId id="258"/>
            <p14:sldId id="259"/>
          </p14:sldIdLst>
        </p14:section>
        <p14:section name="E9 · Ênfase A" id="{1dae2fcc-e904-7820-7922-670c3b380470}">
          <p14:sldIdLst>
            <p14:sldId id="260"/>
            <p14:sldId id="261"/>
            <p14:sldId id="262"/>
            <p14:sldId id="263"/>
            <p14:sldId id="264"/>
          </p14:sldIdLst>
        </p14:section>
        <p14:section name="Experimentos e medições" id="{c9541d93-c6a0-19d7-b2e1-f90cef67e9a0}">
          <p14:sldIdLst>
            <p14:sldId id="265"/>
            <p14:sldId id="266"/>
          </p14:sldIdLst>
        </p14:section>
        <p14:section name="Análise" id="{f72e6e64-e71f-a889-fd6d-2ada108811c7}">
          <p14:sldIdLst>
            <p14:sldId id="267"/>
            <p14:sldId id="268"/>
          </p14:sldIdLst>
        </p14:section>
        <p14:section name="Fechamento" id="{64b3b4f6-8038-b460-9429-ae08bd7c4c1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3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B34"/>
                </a:solidFill>
                <a:latin typeface="+mn-lt"/>
              </a:rPr>
              <a:t>Consultas recebidas pelos autoritativos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1ª consulta</c:v>
                </c:pt>
              </c:strCache>
            </c:strRef>
          </c:tx>
          <c:spPr>
            <a:solidFill>
              <a:srgbClr val="1B7F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Raiz</c:v>
                  </c:pt>
                  <c:pt idx="1">
                    <c:v>.lab</c:v>
                  </c:pt>
                  <c:pt idx="2">
                    <c:v>sd.lab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Consultas 2 a 6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Raiz</c:v>
                  </c:pt>
                  <c:pt idx="1">
                    <c:v>.lab</c:v>
                  </c:pt>
                  <c:pt idx="2">
                    <c:v>sd.lab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DD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3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B34"/>
                </a:solidFill>
                <a:latin typeface="+mn-lt"/>
              </a:rPr>
              <a:t>TTL de curto.sd.lab visto pelo cliente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TTL (s)</c:v>
                </c:pt>
              </c:strCache>
            </c:strRef>
          </c:tx>
          <c:spPr>
            <a:solidFill>
              <a:srgbClr val="1B7F79"/>
            </a:solidFill>
            <a:ln w="38100" cap="flat">
              <a:solidFill>
                <a:srgbClr val="1B7F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4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1B7F79"/>
              </a:solidFill>
              <a:ln w="9525" cap="flat">
                <a:solidFill>
                  <a:srgbClr val="1B7F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 s</c:v>
                  </c:pt>
                  <c:pt idx="1">
                    <c:v>4 s</c:v>
                  </c:pt>
                  <c:pt idx="2">
                    <c:v>8 s</c:v>
                  </c:pt>
                  <c:pt idx="3">
                    <c:v>12 s</c:v>
                  </c:pt>
                  <c:pt idx="4">
                    <c:v>16 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7</c:v>
                </c:pt>
                <c:pt idx="2">
                  <c:v>3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4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3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A2B34"/>
                </a:solidFill>
                <a:latin typeface="+mn-lt"/>
              </a:rPr>
              <a:t>Resolução com o ns1 parado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Failover (ms)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Rodada 1</c:v>
                  </c:pt>
                  <c:pt idx="1">
                    <c:v>Rodada 2</c:v>
                  </c:pt>
                  <c:pt idx="2">
                    <c:v>Rodada 3</c:v>
                  </c:pt>
                  <c:pt idx="3">
                    <c:v>Rodada 4</c:v>
                  </c:pt>
                  <c:pt idx="4">
                    <c:v>Rodada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808</c:v>
                </c:pt>
                <c:pt idx="1">
                  <c:v>4</c:v>
                </c:pt>
                <c:pt idx="2">
                  <c:v>0</c:v>
                </c:pt>
                <c:pt idx="3">
                  <c:v>800</c:v>
                </c:pt>
                <c:pt idx="4">
                  <c:v>804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DD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1 abre. Apresentar a equipe e o tema: DNS com ênfase em hierarquia e delegação (ênfase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3 (0:00–1:30). O problema: a tabela HOSTS.TXT central não escalava. A solução de Mockapetris (1987–88) é um banco distribuído e hierárquico: cada organização administra a própria zona e delega as filhas. Três ideias: hierarquia, delegação e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1 (1:30–3:00). Vídeo V1: docker compose up e verificar.sh terminando em “Tudo certo.”. Cada nível é um contêiner com IP fixo (glue e root hints dependem de IP estático). O resolvedor só conhece a nossa raiz (root hints próprios) e tem dnssec-validation no porque a raiz fictícia não é assinada.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1 ou 4. Recursivo x autoritativo: o autoritativo responde só pela própria zona; o recursivo percorre a hierarquia em nome do cliente e guarda o resultado em cache. Referência = NS da filha na seção de autoridade + glue na adicional, sem a flag 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4 (3:00–6:00). Previsão 1 confirmada: raiz e .lab respondem com referência (ANSWER vazio, sem aa); só o dono da zona responde com autoridade. Ninguém tem a árvore inteira: a raiz não sabe nada de sd.lab.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4. Vídeo V2 (atraso.sh 20ms + e9.sh, partes 2 e 3). Previsões 2 e 3 confirmadas. A 1ª consulta faz três idas sequenciais (raiz, .lab, sd.lab); as seguintes saem do cache. Um nome novo da mesma zona custa um salto só, porque as delegações ficam em cache por 86400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4. Previsão 4 confirmada. Enquanto o TTL não vence, nenhum autoritativo é consultado: uma mudança na zona só chega ao cliente depois disso. É a consistência eventual do DNS. O TTL é a troca entre carga nos servidores e frescor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4. Vídeo V3 (e9-glue.sh). Previsão 5 confirmada. Glue é obrigatório quando o nome do servidor fica dentro da própria zona delegada. Atenção: sem glue o named-checkzone só avisa; o erro aparece para quem tenta resolver.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4 ou 3. Por isso a 1ª resolução teve 5 consultas na raiz e não 1: além de . NS e lab NS, o BIND pergunta o AAAA dos servidores, já que o glue só traz IPv4. A resposta autoritativa do filho tem mais credibilidade que a referência do pai (RFC 2181).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2 (6:00–7:00). Ainda falta rodar E1 a E8: trocar cada cartão pelo título do experimento e o resultado principal, citando o arquivo em evidencias/.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2 (7:00–8:00). Vídeo V4 (final do medir.sh). Cache: 4 ms x 0 ms porque está tudo na mesma máquina; com atraso de 20 ms a diferença vira 64 x 0. Propagação: o NOTIFY faz o secundário atualizar em ~0,2 s em vez de esperar o refresh de 3600 s. Recuperação: o secundário não guarda a zona em disco e precisa de AXFR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3 e 4 (8:00–9:30). Com o cache limpo o resolvedor escolhe um dos dois NS. Quando escolhe o ns1 (parado), espera ~800 ms; quando escolhe o ns2, responde na hora. O papel de primário vem do named.conf (type primary / type secondary com primaries); não há líder escolhido em tempo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3. A janela de inconsistência tem duas partes: entre primário e secundário (até o NOTIFY ou o refresh) e entre autoritativo e cliente (até o TTL vencer no cache). Cache negativo também conta: um NXDOMAIN fica em cache pelo menor valor entre o TTL negativo do SOA e o TTL do 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Papel 1 (9:30–10:00). Fechar com as três ideias e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Conferir autores e datas antes 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ESCURO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Laboratório DNS · T1 · Ênfase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_ESCURO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DNS: hierarquia e delegação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Sistemas Distribuídos · Trabalho T1 · Ênfase A</a:t>
            </a:r>
            <a:endParaRPr lang="en-US" sz="1800" dirty="0"/>
          </a:p>
        </p:txBody>
      </p:sp>
      <p:sp>
        <p:nvSpPr>
          <p:cNvPr id="4" name="conector"/>
          <p:cNvSpPr/>
          <p:nvPr/>
        </p:nvSpPr>
        <p:spPr>
          <a:xfrm>
            <a:off x="7269480" y="1645920"/>
            <a:ext cx="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conector"/>
          <p:cNvSpPr/>
          <p:nvPr/>
        </p:nvSpPr>
        <p:spPr>
          <a:xfrm>
            <a:off x="7269480" y="2880360"/>
            <a:ext cx="0" cy="50292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6" name="no-arvore"/>
          <p:cNvSpPr txBox="1"/>
          <p:nvPr/>
        </p:nvSpPr>
        <p:spPr>
          <a:xfrm>
            <a:off x="6766560" y="914400"/>
            <a:ext cx="100584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no-arvore"/>
          <p:cNvSpPr txBox="1"/>
          <p:nvPr/>
        </p:nvSpPr>
        <p:spPr>
          <a:xfrm>
            <a:off x="6766560" y="2148840"/>
            <a:ext cx="100584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lab</a:t>
            </a:r>
            <a:endParaRPr lang="en-US" sz="1800" dirty="0"/>
          </a:p>
        </p:txBody>
      </p:sp>
      <p:sp>
        <p:nvSpPr>
          <p:cNvPr id="8" name="no-arvore"/>
          <p:cNvSpPr txBox="1"/>
          <p:nvPr/>
        </p:nvSpPr>
        <p:spPr>
          <a:xfrm>
            <a:off x="6766560" y="3383280"/>
            <a:ext cx="1005840" cy="7315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sd.lab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raiz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0956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TLD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nossa zona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problema que o DNS resolve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Traduzir nomes em endereços para bilhões de máquinas, sem nenhum servidor central.</a:t>
            </a:r>
            <a:endParaRPr lang="en-US" sz="1600" dirty="0"/>
          </a:p>
        </p:txBody>
      </p:sp>
      <p:sp>
        <p:nvSpPr>
          <p:cNvPr id="5" name="icone-fundo"/>
          <p:cNvSpPr/>
          <p:nvPr/>
        </p:nvSpPr>
        <p:spPr>
          <a:xfrm>
            <a:off x="4572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Hierarquia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Árvore de zonas: raiz → TLD → domínio.</a:t>
            </a:r>
            <a:endParaRPr lang="en-US" sz="1400" dirty="0"/>
          </a:p>
        </p:txBody>
      </p:sp>
      <p:sp>
        <p:nvSpPr>
          <p:cNvPr id="8" name="icone-fundo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9718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Delegação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zona aponta para quem responde pela filha.</a:t>
            </a:r>
            <a:endParaRPr lang="en-US" sz="1400" dirty="0"/>
          </a:p>
        </p:txBody>
      </p:sp>
      <p:sp>
        <p:nvSpPr>
          <p:cNvPr id="11" name="icone-fundo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49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566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Cache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Resolvedores guardam as respostas pelo TTL.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394960" y="1280160"/>
            <a:ext cx="32918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/>
        </p:spPr>
      </p:sp>
      <p:sp>
        <p:nvSpPr>
          <p:cNvPr id="15" name="no-arvore"/>
          <p:cNvSpPr txBox="1"/>
          <p:nvPr/>
        </p:nvSpPr>
        <p:spPr>
          <a:xfrm>
            <a:off x="6606540" y="1508760"/>
            <a:ext cx="8686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.</a:t>
            </a:r>
            <a:endParaRPr lang="en-US" sz="1300" dirty="0"/>
          </a:p>
        </p:txBody>
      </p:sp>
      <p:sp>
        <p:nvSpPr>
          <p:cNvPr id="16" name="conector"/>
          <p:cNvSpPr/>
          <p:nvPr/>
        </p:nvSpPr>
        <p:spPr>
          <a:xfrm>
            <a:off x="7040880" y="1920240"/>
            <a:ext cx="0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conector"/>
          <p:cNvSpPr/>
          <p:nvPr/>
        </p:nvSpPr>
        <p:spPr>
          <a:xfrm>
            <a:off x="6035040" y="2148840"/>
            <a:ext cx="2011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8" name="conector"/>
          <p:cNvSpPr/>
          <p:nvPr/>
        </p:nvSpPr>
        <p:spPr>
          <a:xfrm>
            <a:off x="6035040" y="2148840"/>
            <a:ext cx="0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conector"/>
          <p:cNvSpPr/>
          <p:nvPr/>
        </p:nvSpPr>
        <p:spPr>
          <a:xfrm>
            <a:off x="8046720" y="2148840"/>
            <a:ext cx="0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no-arvore"/>
          <p:cNvSpPr txBox="1"/>
          <p:nvPr/>
        </p:nvSpPr>
        <p:spPr>
          <a:xfrm>
            <a:off x="5600700" y="2377440"/>
            <a:ext cx="8686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</a:t>
            </a:r>
            <a:endParaRPr lang="en-US" sz="1300" dirty="0"/>
          </a:p>
        </p:txBody>
      </p:sp>
      <p:sp>
        <p:nvSpPr>
          <p:cNvPr id="21" name="no-arvore"/>
          <p:cNvSpPr txBox="1"/>
          <p:nvPr/>
        </p:nvSpPr>
        <p:spPr>
          <a:xfrm>
            <a:off x="6606540" y="2377440"/>
            <a:ext cx="8686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lab</a:t>
            </a:r>
            <a:endParaRPr lang="en-US" sz="1300" dirty="0"/>
          </a:p>
        </p:txBody>
      </p:sp>
      <p:sp>
        <p:nvSpPr>
          <p:cNvPr id="22" name="no-arvore"/>
          <p:cNvSpPr txBox="1"/>
          <p:nvPr/>
        </p:nvSpPr>
        <p:spPr>
          <a:xfrm>
            <a:off x="7612380" y="2377440"/>
            <a:ext cx="86868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br</a:t>
            </a:r>
            <a:endParaRPr lang="en-US" sz="1300" dirty="0"/>
          </a:p>
        </p:txBody>
      </p:sp>
      <p:sp>
        <p:nvSpPr>
          <p:cNvPr id="23" name="conector"/>
          <p:cNvSpPr/>
          <p:nvPr/>
        </p:nvSpPr>
        <p:spPr>
          <a:xfrm>
            <a:off x="7040880" y="2788920"/>
            <a:ext cx="0" cy="274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4" name="no-arvore"/>
          <p:cNvSpPr txBox="1"/>
          <p:nvPr/>
        </p:nvSpPr>
        <p:spPr>
          <a:xfrm>
            <a:off x="6606540" y="3063240"/>
            <a:ext cx="86868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sd.lab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57784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Cada caixa é uma zona com servidores próprios.</a:t>
            </a:r>
            <a:endParaRPr lang="en-US" sz="1200" dirty="0"/>
          </a:p>
        </p:txBody>
      </p:sp>
      <p:sp>
        <p:nvSpPr>
          <p:cNvPr id="26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Mockapetris e Dunlap, “Development of the Domain Name System”, SIGCOMM ’88 · RFC 1034 e RFC 1035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R1 · AMBIENTE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Nosso ambiente</a:t>
            </a:r>
            <a:endParaRPr lang="en-US" sz="3600" dirty="0"/>
          </a:p>
        </p:txBody>
      </p:sp>
      <p:sp>
        <p:nvSpPr>
          <p:cNvPr id="4" name="conector"/>
          <p:cNvSpPr/>
          <p:nvPr/>
        </p:nvSpPr>
        <p:spPr>
          <a:xfrm>
            <a:off x="2880360" y="1847088"/>
            <a:ext cx="0" cy="21031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" name="conector"/>
          <p:cNvSpPr/>
          <p:nvPr/>
        </p:nvSpPr>
        <p:spPr>
          <a:xfrm>
            <a:off x="2880360" y="2624328"/>
            <a:ext cx="0" cy="1737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6" name="conector"/>
          <p:cNvSpPr/>
          <p:nvPr/>
        </p:nvSpPr>
        <p:spPr>
          <a:xfrm>
            <a:off x="1600200" y="2798064"/>
            <a:ext cx="256032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7" name="conector"/>
          <p:cNvSpPr/>
          <p:nvPr/>
        </p:nvSpPr>
        <p:spPr>
          <a:xfrm>
            <a:off x="1600200" y="2798064"/>
            <a:ext cx="0" cy="1737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8" name="conector"/>
          <p:cNvSpPr/>
          <p:nvPr/>
        </p:nvSpPr>
        <p:spPr>
          <a:xfrm>
            <a:off x="4160520" y="2798064"/>
            <a:ext cx="0" cy="173736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9" name="conector"/>
          <p:cNvSpPr/>
          <p:nvPr/>
        </p:nvSpPr>
        <p:spPr>
          <a:xfrm>
            <a:off x="2423160" y="3255264"/>
            <a:ext cx="9144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conector"/>
          <p:cNvSpPr/>
          <p:nvPr/>
        </p:nvSpPr>
        <p:spPr>
          <a:xfrm flipH="1">
            <a:off x="2423160" y="4123944"/>
            <a:ext cx="9144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conector"/>
          <p:cNvSpPr/>
          <p:nvPr/>
        </p:nvSpPr>
        <p:spPr>
          <a:xfrm>
            <a:off x="548640" y="4123944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12" name="conector"/>
          <p:cNvSpPr/>
          <p:nvPr/>
        </p:nvSpPr>
        <p:spPr>
          <a:xfrm>
            <a:off x="548640" y="1563624"/>
            <a:ext cx="0" cy="256032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13" name="conector"/>
          <p:cNvSpPr/>
          <p:nvPr/>
        </p:nvSpPr>
        <p:spPr>
          <a:xfrm>
            <a:off x="548640" y="1563624"/>
            <a:ext cx="14173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4" name="no-Raiz ( . )"/>
          <p:cNvSpPr txBox="1"/>
          <p:nvPr/>
        </p:nvSpPr>
        <p:spPr>
          <a:xfrm>
            <a:off x="1965960" y="128016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Raiz ( . 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10.53.0.10</a:t>
            </a:r>
            <a:endParaRPr lang="en-US" sz="1300" dirty="0"/>
          </a:p>
        </p:txBody>
      </p:sp>
      <p:sp>
        <p:nvSpPr>
          <p:cNvPr id="15" name="no-TLD .lab"/>
          <p:cNvSpPr txBox="1"/>
          <p:nvPr/>
        </p:nvSpPr>
        <p:spPr>
          <a:xfrm>
            <a:off x="1965960" y="205740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TLD .lab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10.53.0.20</a:t>
            </a:r>
            <a:endParaRPr lang="en-US" sz="1300" dirty="0"/>
          </a:p>
        </p:txBody>
      </p:sp>
      <p:sp>
        <p:nvSpPr>
          <p:cNvPr id="16" name="no-sd.lab primário"/>
          <p:cNvSpPr txBox="1"/>
          <p:nvPr/>
        </p:nvSpPr>
        <p:spPr>
          <a:xfrm>
            <a:off x="777240" y="297180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sd.lab primário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10.53.0.30</a:t>
            </a:r>
            <a:endParaRPr lang="en-US" sz="1300" dirty="0"/>
          </a:p>
        </p:txBody>
      </p:sp>
      <p:sp>
        <p:nvSpPr>
          <p:cNvPr id="17" name="no-sd.lab secundário"/>
          <p:cNvSpPr txBox="1"/>
          <p:nvPr/>
        </p:nvSpPr>
        <p:spPr>
          <a:xfrm>
            <a:off x="3337560" y="297180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sd.lab secundário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10.53.0.31</a:t>
            </a:r>
            <a:endParaRPr lang="en-US" sz="1300" dirty="0"/>
          </a:p>
        </p:txBody>
      </p:sp>
      <p:sp>
        <p:nvSpPr>
          <p:cNvPr id="18" name="no-Resolvedor"/>
          <p:cNvSpPr txBox="1"/>
          <p:nvPr/>
        </p:nvSpPr>
        <p:spPr>
          <a:xfrm>
            <a:off x="777240" y="384048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Resolvedor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10.53.0.53 · cache</a:t>
            </a:r>
            <a:endParaRPr lang="en-US" sz="1300" dirty="0"/>
          </a:p>
        </p:txBody>
      </p:sp>
      <p:sp>
        <p:nvSpPr>
          <p:cNvPr id="19" name="no-Cliente"/>
          <p:cNvSpPr txBox="1"/>
          <p:nvPr/>
        </p:nvSpPr>
        <p:spPr>
          <a:xfrm>
            <a:off x="3337560" y="384048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127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10.53.0.100 · dig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1828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delega + glue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291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NOTIFY + IXFR</a:t>
            </a:r>
            <a:endParaRPr lang="en-US" sz="1000" dirty="0"/>
          </a:p>
        </p:txBody>
      </p:sp>
      <p:sp>
        <p:nvSpPr>
          <p:cNvPr id="22" name="card"/>
          <p:cNvSpPr/>
          <p:nvPr/>
        </p:nvSpPr>
        <p:spPr>
          <a:xfrm>
            <a:off x="5394960" y="1280160"/>
            <a:ext cx="32918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32120" y="128016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128016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contêineres com BIND 9.18 numa rede 10.53.0.0/24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394960" y="2304288"/>
            <a:ext cx="32918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32120" y="2304288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128 MB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30428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limite de memória por servidor (cliente: 64 MB)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5394960" y="3328416"/>
            <a:ext cx="32918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532120" y="3328416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~23 MB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32841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uso real de cada servidor (docker stats)</a:t>
            </a:r>
            <a:endParaRPr lang="en-US" sz="1200" dirty="0"/>
          </a:p>
        </p:txBody>
      </p:sp>
      <p:sp>
        <p:nvSpPr>
          <p:cNvPr id="31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Tracejado: o resolvedor consulta cada nível. verificar.sh confere servidores, delegações, glue, seriais e resolvedor → “Tudo certo.”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COMO FUNCIONA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Como uma consulta é resolvida</a:t>
            </a:r>
            <a:endParaRPr lang="en-US" sz="3600" dirty="0"/>
          </a:p>
        </p:txBody>
      </p:sp>
      <p:sp>
        <p:nvSpPr>
          <p:cNvPr id="4" name="icone-fundo"/>
          <p:cNvSpPr/>
          <p:nvPr/>
        </p:nvSpPr>
        <p:spPr>
          <a:xfrm>
            <a:off x="822960" y="132588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4973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Cliente</a:t>
            </a:r>
            <a:endParaRPr lang="en-US" sz="1300" dirty="0"/>
          </a:p>
        </p:txBody>
      </p:sp>
      <p:sp>
        <p:nvSpPr>
          <p:cNvPr id="7" name="conector"/>
          <p:cNvSpPr/>
          <p:nvPr/>
        </p:nvSpPr>
        <p:spPr>
          <a:xfrm>
            <a:off x="1165860" y="2331720"/>
            <a:ext cx="0" cy="5029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280160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www.sd.lab?</a:t>
            </a:r>
            <a:endParaRPr lang="en-US" sz="1100" dirty="0"/>
          </a:p>
        </p:txBody>
      </p:sp>
      <p:sp>
        <p:nvSpPr>
          <p:cNvPr id="9" name="icone-fundo"/>
          <p:cNvSpPr/>
          <p:nvPr/>
        </p:nvSpPr>
        <p:spPr>
          <a:xfrm>
            <a:off x="822960" y="2880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051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3584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Resolvedor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20040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pergunta a cada nível e guarda em cache</a:t>
            </a:r>
            <a:endParaRPr lang="en-US" sz="1100" dirty="0"/>
          </a:p>
        </p:txBody>
      </p:sp>
      <p:sp>
        <p:nvSpPr>
          <p:cNvPr id="13" name="conector"/>
          <p:cNvSpPr/>
          <p:nvPr/>
        </p:nvSpPr>
        <p:spPr>
          <a:xfrm>
            <a:off x="1600200" y="3218688"/>
            <a:ext cx="11430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2834640" y="1325880"/>
            <a:ext cx="58521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017520" y="15453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132588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Raiz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“Não sei. Pergunte ao .lab” + endereço dele (glue)</a:t>
            </a:r>
            <a:endParaRPr lang="en-US" sz="1400" dirty="0"/>
          </a:p>
        </p:txBody>
      </p:sp>
      <p:sp>
        <p:nvSpPr>
          <p:cNvPr id="17" name="etiqueta"/>
          <p:cNvSpPr txBox="1"/>
          <p:nvPr/>
        </p:nvSpPr>
        <p:spPr>
          <a:xfrm>
            <a:off x="7315200" y="1636776"/>
            <a:ext cx="118872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Referência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2834640" y="2350008"/>
            <a:ext cx="58521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017520" y="25694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657600" y="2350008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TLD .lab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“Pergunte a ns1 ou ns2.sd.lab” + endereços (glue)</a:t>
            </a:r>
            <a:endParaRPr lang="en-US" sz="1400" dirty="0"/>
          </a:p>
        </p:txBody>
      </p:sp>
      <p:sp>
        <p:nvSpPr>
          <p:cNvPr id="21" name="etiqueta"/>
          <p:cNvSpPr txBox="1"/>
          <p:nvPr/>
        </p:nvSpPr>
        <p:spPr>
          <a:xfrm>
            <a:off x="7315200" y="2660904"/>
            <a:ext cx="118872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Referência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2834640" y="3374136"/>
            <a:ext cx="58521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017520" y="35935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3657600" y="337413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sd.lab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“www.sd.lab é 10.53.0.80”</a:t>
            </a:r>
            <a:endParaRPr lang="en-US" sz="1400" dirty="0"/>
          </a:p>
        </p:txBody>
      </p:sp>
      <p:sp>
        <p:nvSpPr>
          <p:cNvPr id="25" name="etiqueta"/>
          <p:cNvSpPr txBox="1"/>
          <p:nvPr/>
        </p:nvSpPr>
        <p:spPr>
          <a:xfrm>
            <a:off x="7315200" y="3685032"/>
            <a:ext cx="118872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Resposta aa</a:t>
            </a:r>
            <a:endParaRPr lang="en-US" sz="1100" dirty="0"/>
          </a:p>
        </p:txBody>
      </p:sp>
      <p:sp>
        <p:nvSpPr>
          <p:cNvPr id="26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evidencias/e9-2-trace.txt: dig +trace desce raiz → .lab → sd.lab em 4 saltos (~20 ms cada, com atraso simulado)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E9 · DELEGAÇÃO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Cada nível só conhece o próximo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Raiz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10.53.0.10</a:t>
            </a:r>
            <a:endParaRPr lang="en-US" sz="1600" dirty="0"/>
          </a:p>
        </p:txBody>
      </p:sp>
      <p:sp>
        <p:nvSpPr>
          <p:cNvPr id="6" name="etiqueta"/>
          <p:cNvSpPr txBox="1"/>
          <p:nvPr/>
        </p:nvSpPr>
        <p:spPr>
          <a:xfrm>
            <a:off x="594360" y="1783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Referência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762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 qr   (sem aa)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0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chemeClr val="accent1"/>
                </a:solidFill>
              </a:rPr>
              <a:t>Autoridade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lab. NS ns1.nic.lab.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chemeClr val="accent1"/>
                </a:solidFill>
              </a:rPr>
              <a:t>Adicional (glue)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ns1.nic.lab. A 10.53.0.20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TLD .lab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10.53.0.20</a:t>
            </a:r>
            <a:endParaRPr lang="en-US" sz="1600" dirty="0"/>
          </a:p>
        </p:txBody>
      </p:sp>
      <p:sp>
        <p:nvSpPr>
          <p:cNvPr id="10" name="etiqueta"/>
          <p:cNvSpPr txBox="1"/>
          <p:nvPr/>
        </p:nvSpPr>
        <p:spPr>
          <a:xfrm>
            <a:off x="3429000" y="1783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Referência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1762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 qr   (sem aa)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0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chemeClr val="accent1"/>
                </a:solidFill>
              </a:rPr>
              <a:t>Autoridade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sd.lab. NS ns1.sd.lab.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sd.lab. NS ns2.sd.lab.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chemeClr val="accent1"/>
                </a:solidFill>
              </a:rPr>
              <a:t>Adicional (glue)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ns1.sd.lab. A 10.53.0.30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ns2.sd.lab. A 10.53.0.31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6126480" y="12801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sd.lab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10.53.0.30</a:t>
            </a:r>
            <a:endParaRPr lang="en-US" sz="1600" dirty="0"/>
          </a:p>
        </p:txBody>
      </p:sp>
      <p:sp>
        <p:nvSpPr>
          <p:cNvPr id="14" name="etiqueta"/>
          <p:cNvSpPr txBox="1"/>
          <p:nvPr/>
        </p:nvSpPr>
        <p:spPr>
          <a:xfrm>
            <a:off x="6263640" y="1783080"/>
            <a:ext cx="109728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Resposta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176272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 qr aa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Resposta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www.sd.lab. A 10.53.0.80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300 s</a:t>
            </a:r>
            <a:endParaRPr lang="en-US" sz="1100" dirty="0"/>
          </a:p>
        </p:txBody>
      </p:sp>
      <p:sp>
        <p:nvSpPr>
          <p:cNvPr id="16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evidencias/e9-1-delegacao.txt · dig +norecurse feito pelo cliente direto em cada servidor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E9 · CACHE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cache corta o caminho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64 ms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280160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1ª consulta, cache vazio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12 consultas chegaram aos autoritativos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304288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 ms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304288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Consultas 2 a 6, do cache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Nenhuma consulta; TTL 298 → 294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57200" y="3328416"/>
            <a:ext cx="40233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328416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 ms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328416"/>
            <a:ext cx="2331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api.sd.lab, outro nome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Vai direto ao sd.lab (1 consulta)</a:t>
            </a:r>
            <a:endParaRPr lang="en-US" sz="1400" dirty="0"/>
          </a:p>
        </p:txBody>
      </p:sp>
      <p:graphicFrame>
        <p:nvGraphicFramePr>
          <p:cNvPr id="13" name="grafico-cache" descr=""/>
          <p:cNvGraphicFramePr/>
          <p:nvPr/>
        </p:nvGraphicFramePr>
        <p:xfrm>
          <a:off x="4754880" y="128016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evidencias/e9-3-cache.txt · com 20 ms de atraso em cada autoritativo (scripts/atraso.sh)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E9 · TTL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cache tem prazo: o TTL</a:t>
            </a:r>
            <a:endParaRPr lang="en-US" sz="3600" dirty="0"/>
          </a:p>
        </p:txBody>
      </p:sp>
      <p:graphicFrame>
        <p:nvGraphicFramePr>
          <p:cNvPr id="4" name="grafico-ttl" descr=""/>
          <p:cNvGraphicFramePr/>
          <p:nvPr/>
        </p:nvGraphicFramePr>
        <p:xfrm>
          <a:off x="457200" y="1280160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cone-fundo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087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63640" y="126187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 = 0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Cache vazio: percorre a hierarquia (68 ms)</a:t>
            </a:r>
            <a:endParaRPr lang="en-US" sz="1400" dirty="0"/>
          </a:p>
        </p:txBody>
      </p:sp>
      <p:sp>
        <p:nvSpPr>
          <p:cNvPr id="8" name="icone-fundo"/>
          <p:cNvSpPr/>
          <p:nvPr/>
        </p:nvSpPr>
        <p:spPr>
          <a:xfrm>
            <a:off x="5577840" y="23591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49631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263640" y="224942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 = 4 e 8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cache: 0 ms, TTL 7 → 3</a:t>
            </a:r>
            <a:endParaRPr lang="en-US" sz="1400" dirty="0"/>
          </a:p>
        </p:txBody>
      </p:sp>
      <p:sp>
        <p:nvSpPr>
          <p:cNvPr id="11" name="icone-fundo"/>
          <p:cNvSpPr/>
          <p:nvPr/>
        </p:nvSpPr>
        <p:spPr>
          <a:xfrm>
            <a:off x="5577840" y="334670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48386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263640" y="323697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 = 12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TTL venceu: 1 consulta nova, só no sd.lab (24 ms)</a:t>
            </a:r>
            <a:endParaRPr lang="en-US" sz="1400" dirty="0"/>
          </a:p>
        </p:txBody>
      </p:sp>
      <p:sp>
        <p:nvSpPr>
          <p:cNvPr id="14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evidencias/e9-4-ttl.txt · registro curto.sd.lab com TTL de 10 s, consultado a cada 4 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E9 · GLUE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Sem glue, a delegação quebra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6517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5" name="icone-fundo"/>
          <p:cNvSpPr/>
          <p:nvPr/>
        </p:nvSpPr>
        <p:spPr>
          <a:xfrm>
            <a:off x="640080" y="144475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7048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447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a) Sem glue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Aviso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named-checkzone: “has no REQUIRED GLUE”. A zona ainda carrega.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1280160"/>
            <a:ext cx="26517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1" name="icone-fundo"/>
          <p:cNvSpPr/>
          <p:nvPr/>
        </p:nvSpPr>
        <p:spPr>
          <a:xfrm>
            <a:off x="3474720" y="1444752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5704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14800" y="14447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b) Glue errado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SERVFAIL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Glue aponta para 10.53.0.98 e .99: o resolvedor desiste após 10 s.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126480" y="1280160"/>
            <a:ext cx="265176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/>
        </p:spPr>
      </p:sp>
      <p:sp>
        <p:nvSpPr>
          <p:cNvPr id="17" name="icone-fundo"/>
          <p:cNvSpPr/>
          <p:nvPr/>
        </p:nvSpPr>
        <p:spPr>
          <a:xfrm>
            <a:off x="6309360" y="1444752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57048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49440" y="14447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c) Restaurado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NOERROR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423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 o glue certo de volta, resolve em 43 ms.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32918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/>
        </p:spPr>
      </p:sp>
      <p:sp>
        <p:nvSpPr>
          <p:cNvPr id="23" name="icone-fundo"/>
          <p:cNvSpPr/>
          <p:nvPr/>
        </p:nvSpPr>
        <p:spPr>
          <a:xfrm>
            <a:off x="640080" y="354787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850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71600" y="3291840"/>
            <a:ext cx="7178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 que o glue existe?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ns1.sd.lab fica dentro de sd.lab: para achar o endereço dele seria preciso perguntar a ele mesmo. O .lab quebra esse círculo publicando o endereço junto com a referência.</a:t>
            </a:r>
            <a:endParaRPr lang="en-US" sz="1400" dirty="0"/>
          </a:p>
        </p:txBody>
      </p:sp>
      <p:sp>
        <p:nvSpPr>
          <p:cNvPr id="26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evidencias/e9-6-glue.txt · a alteração é feita só dentro do contêiner do .lab · RFC 9471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E9 · ACHADOS NOS LOGS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que os logs mostraram</a:t>
            </a:r>
            <a:endParaRPr lang="en-US" sz="36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822960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5" name="icone-fundo"/>
          <p:cNvSpPr/>
          <p:nvPr/>
        </p:nvSpPr>
        <p:spPr>
          <a:xfrm>
            <a:off x="640080" y="1453896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10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80160"/>
            <a:ext cx="7178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QNAME minimization (RFC 9156)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raiz só recebeu “lab NS” e o .lab só “sd.lab NS”. O nome completo só chegou ao sd.lab.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304288"/>
            <a:ext cx="822960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9" name="icone-fundo"/>
          <p:cNvSpPr/>
          <p:nvPr/>
        </p:nvSpPr>
        <p:spPr>
          <a:xfrm>
            <a:off x="640080" y="247802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151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04288"/>
            <a:ext cx="7178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Cache negativo (RFC 2308)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resolvedor pediu o IPv6 (AAAA) dos servidores. O “não existe” ficou em cache: 3600 s no .lab, 60 s no sd.lab.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3328416"/>
            <a:ext cx="822960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13" name="icone-fundo"/>
          <p:cNvSpPr/>
          <p:nvPr/>
        </p:nvSpPr>
        <p:spPr>
          <a:xfrm>
            <a:off x="640080" y="350215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93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328416"/>
            <a:ext cx="7178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 NS do filho vence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cache, sd.lab NS ficou com o TTL do filho (300 s); o glue ficou com o do pai (86400 s).</a:t>
            </a:r>
            <a:endParaRPr lang="en-US" sz="1400" dirty="0"/>
          </a:p>
        </p:txBody>
      </p:sp>
      <p:sp>
        <p:nvSpPr>
          <p:cNvPr id="16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evidencias/e9-3-cache.txt (consultas na ordem de chegada) · evidencias/e9-5-cache-dump.txt (rndc dumpdb)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E1 A E8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Experimentos comuns</a:t>
            </a:r>
            <a:endParaRPr lang="en-US" sz="3600" dirty="0"/>
          </a:p>
        </p:txBody>
      </p:sp>
      <p:sp>
        <p:nvSpPr>
          <p:cNvPr id="4" name="icone-fundo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Previsão</a:t>
            </a:r>
            <a:endParaRPr lang="en-US" sz="1400" dirty="0"/>
          </a:p>
        </p:txBody>
      </p:sp>
      <p:sp>
        <p:nvSpPr>
          <p:cNvPr id="7" name="conector"/>
          <p:cNvSpPr/>
          <p:nvPr/>
        </p:nvSpPr>
        <p:spPr>
          <a:xfrm>
            <a:off x="2304288" y="160020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icone-fundo"/>
          <p:cNvSpPr/>
          <p:nvPr/>
        </p:nvSpPr>
        <p:spPr>
          <a:xfrm>
            <a:off x="260604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27832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Procedimento</a:t>
            </a:r>
            <a:endParaRPr lang="en-US" sz="1400" dirty="0"/>
          </a:p>
        </p:txBody>
      </p:sp>
      <p:sp>
        <p:nvSpPr>
          <p:cNvPr id="11" name="conector"/>
          <p:cNvSpPr/>
          <p:nvPr/>
        </p:nvSpPr>
        <p:spPr>
          <a:xfrm>
            <a:off x="4453128" y="160020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icone-fundo"/>
          <p:cNvSpPr/>
          <p:nvPr/>
        </p:nvSpPr>
        <p:spPr>
          <a:xfrm>
            <a:off x="47548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76672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Evidência</a:t>
            </a:r>
            <a:endParaRPr lang="en-US" sz="1400" dirty="0"/>
          </a:p>
        </p:txBody>
      </p:sp>
      <p:sp>
        <p:nvSpPr>
          <p:cNvPr id="15" name="conector"/>
          <p:cNvSpPr/>
          <p:nvPr/>
        </p:nvSpPr>
        <p:spPr>
          <a:xfrm>
            <a:off x="6601968" y="160020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icone-fundo"/>
          <p:cNvSpPr/>
          <p:nvPr/>
        </p:nvSpPr>
        <p:spPr>
          <a:xfrm>
            <a:off x="690372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630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525512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Análise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19456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94360" y="219456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E1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2560320" y="219456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2697480" y="219456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E2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23" name="card"/>
          <p:cNvSpPr/>
          <p:nvPr/>
        </p:nvSpPr>
        <p:spPr>
          <a:xfrm>
            <a:off x="4663440" y="219456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800600" y="219456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E3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25" name="card"/>
          <p:cNvSpPr/>
          <p:nvPr/>
        </p:nvSpPr>
        <p:spPr>
          <a:xfrm>
            <a:off x="6766560" y="219456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903720" y="219456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E4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27" name="card"/>
          <p:cNvSpPr/>
          <p:nvPr/>
        </p:nvSpPr>
        <p:spPr>
          <a:xfrm>
            <a:off x="457200" y="324612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594360" y="324612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E5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29" name="card"/>
          <p:cNvSpPr/>
          <p:nvPr/>
        </p:nvSpPr>
        <p:spPr>
          <a:xfrm>
            <a:off x="2560320" y="324612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2697480" y="324612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E6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31" name="card"/>
          <p:cNvSpPr/>
          <p:nvPr/>
        </p:nvSpPr>
        <p:spPr>
          <a:xfrm>
            <a:off x="4663440" y="324612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4800600" y="324612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E7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33" name="card"/>
          <p:cNvSpPr/>
          <p:nvPr/>
        </p:nvSpPr>
        <p:spPr>
          <a:xfrm>
            <a:off x="6766560" y="3246120"/>
            <a:ext cx="19202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903720" y="324612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E8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resultado a incluir</a:t>
            </a:r>
            <a:endParaRPr lang="en-US" sz="1800" dirty="0"/>
          </a:p>
        </p:txBody>
      </p:sp>
      <p:sp>
        <p:nvSpPr>
          <p:cNvPr id="35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Mesmo formato do E9 · preencher cada cartão com o resultado medido e o arquivo de evidência (papel 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R7 · MEDIÇÕES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Medições com repetição</a:t>
            </a:r>
            <a:endParaRPr lang="en-US" sz="3600" dirty="0"/>
          </a:p>
        </p:txBody>
      </p:sp>
      <p:graphicFrame>
        <p:nvGraphicFramePr>
          <p:cNvPr id="12" name="tabela-medico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Métrica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 que mede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Média (ms)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Desvio (ms)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Latência fria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Cache vazio, percorre a hierarquia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Latência quente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Mesma consulta, do cache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Propagação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 reload no primário até o secundário servir (NOTIFY + IXFR)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Recuperação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 restart do secundário até servir de novo (AXFR)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3.793*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Failover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Resolução com o primário parado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5 rodadas sem atraso · *inclui 1 a 2 s de overhead do Docker Desktop no Windows · evidencias/medicoes.csv e medicoes-resumo.txt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R7 · FAILOVER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Failover sem eleição</a:t>
            </a:r>
            <a:endParaRPr lang="en-US" sz="3600" dirty="0"/>
          </a:p>
        </p:txBody>
      </p:sp>
      <p:graphicFrame>
        <p:nvGraphicFramePr>
          <p:cNvPr id="4" name="grafico-failover" descr=""/>
          <p:cNvGraphicFramePr/>
          <p:nvPr/>
        </p:nvGraphicFramePr>
        <p:xfrm>
          <a:off x="457200" y="1280160"/>
          <a:ext cx="4572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cone-fundo"/>
          <p:cNvSpPr/>
          <p:nvPr/>
        </p:nvSpPr>
        <p:spPr>
          <a:xfrm>
            <a:off x="534924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970" y="145161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89320" y="11887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Por que ~800 ms?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resolvedor tentou o ns1 parado, esperou o timeout e foi ao ns2.</a:t>
            </a:r>
            <a:endParaRPr lang="en-US" sz="1300" dirty="0"/>
          </a:p>
        </p:txBody>
      </p:sp>
      <p:sp>
        <p:nvSpPr>
          <p:cNvPr id="8" name="icone-fundo"/>
          <p:cNvSpPr/>
          <p:nvPr/>
        </p:nvSpPr>
        <p:spPr>
          <a:xfrm>
            <a:off x="5349240" y="2331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245745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21945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Não há eleição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primário é fixo na configuração. Sem líder, sem consenso.</a:t>
            </a:r>
            <a:endParaRPr lang="en-US" sz="1300" dirty="0"/>
          </a:p>
        </p:txBody>
      </p:sp>
      <p:sp>
        <p:nvSpPr>
          <p:cNvPr id="11" name="icone-fundo"/>
          <p:cNvSpPr/>
          <p:nvPr/>
        </p:nvSpPr>
        <p:spPr>
          <a:xfrm>
            <a:off x="5349240" y="3337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4970" y="3463290"/>
            <a:ext cx="251460" cy="2514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989320" y="3200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 as escritas?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Só no primário. O ns2 segue respondendo até o expire (86400 s).</a:t>
            </a:r>
            <a:endParaRPr lang="en-US" sz="1300" dirty="0"/>
          </a:p>
        </p:txBody>
      </p:sp>
      <p:sp>
        <p:nvSpPr>
          <p:cNvPr id="14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Distribuição bimodal: média 483 ms e desvio 439 ms descrevem mal; nenhuma consulta falhou · evidencias/medicoes.csv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MODELO DE CONSISTÊNCIA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Consistência eventual</a:t>
            </a:r>
            <a:endParaRPr lang="en-US" sz="3600" dirty="0"/>
          </a:p>
        </p:txBody>
      </p:sp>
      <p:sp>
        <p:nvSpPr>
          <p:cNvPr id="4" name="conector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marco"/>
          <p:cNvSpPr/>
          <p:nvPr/>
        </p:nvSpPr>
        <p:spPr>
          <a:xfrm>
            <a:off x="1033272" y="21762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~0,2 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" y="2606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Propagação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primário → secundário com NOTIFY + IXFR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3273552" y="217627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300 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606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TTL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resposta velha no cache do resolvedor</a:t>
            </a:r>
            <a:endParaRPr lang="en-US" sz="1400" dirty="0"/>
          </a:p>
        </p:txBody>
      </p:sp>
      <p:sp>
        <p:nvSpPr>
          <p:cNvPr id="11" name="marco"/>
          <p:cNvSpPr/>
          <p:nvPr/>
        </p:nvSpPr>
        <p:spPr>
          <a:xfrm>
            <a:off x="5513832" y="21762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3600 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06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Refresh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 o NOTIFY se perder, o secundário só confere aqui</a:t>
            </a:r>
            <a:endParaRPr lang="en-US" sz="1400" dirty="0"/>
          </a:p>
        </p:txBody>
      </p:sp>
      <p:sp>
        <p:nvSpPr>
          <p:cNvPr id="14" name="marco"/>
          <p:cNvSpPr/>
          <p:nvPr/>
        </p:nvSpPr>
        <p:spPr>
          <a:xfrm>
            <a:off x="7754112" y="217627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86400 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606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Expire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secundário sem o primário para de responder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57200" y="36118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611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 mudança chega a todos, mas com atraso.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DNS troca frescor dos dados por escala e disponibilidade.</a:t>
            </a:r>
            <a:endParaRPr lang="en-US" sz="1400" dirty="0"/>
          </a:p>
        </p:txBody>
      </p:sp>
      <p:sp>
        <p:nvSpPr>
          <p:cNvPr id="19" name="fonte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Janelas de inconsistência do nosso ambiente (fora de escala) · valores do SOA de sd.lab e de medicoes-resumo.txt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Conclusão</a:t>
            </a:r>
            <a:endParaRPr lang="en-US" sz="4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Delegação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Distribui autoridade e carga: cada servidor só conhece a própria zona e o próximo nível.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3716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icone-fundo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Glue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834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Quebra a dependência circular. Com o glue errado, a resolução dá SERVFAIL.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3716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icone-fundo"/>
          <p:cNvSpPr/>
          <p:nvPr/>
        </p:nvSpPr>
        <p:spPr>
          <a:xfrm>
            <a:off x="63550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377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Cache e TTL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8346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64 ms → 0 ms enquanto o TTL vale. O preço é a consistência eventual.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R2 · PESQUISA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Referências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MOCKAPETRIS, P.; DUNLAP, K. J. Development of the Domain Name System. ACM SIGCOMM ’88, 1988.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MOCKAPETRIS, P. RFC 1034: Domain names – concepts and facilities. IETF, 1987.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MOCKAPETRIS, P. RFC 1035: Domain names – implementation and specification. IETF, 1987.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OHTA, M. RFC 1995: Incremental zone transfer in DNS (IXFR). IETF, 1996.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VIXIE, P. RFC 1996: DNS NOTIFY. IETF, 1996.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ANDREWS, M. RFC 2308: Negative caching of DNS queries. IETF, 1998.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LEWIS, E.; HOENES, A. RFC 5936: DNS zone transfer protocol (AXFR). IETF, 2010.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BORTZMEYER, S.; DOLMANS, R.; HOFFMAN, P. RFC 9156: DNS query name minimisation. IETF, 2021.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ANDREWS, M. et al. RFC 9471: DNS glue requirements in referral responses. IETF, 2023.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INTERNET SYSTEMS CONSORTIUM. BIND 9 Administrator Reference Manual, versão 9.18.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oratorio DNS">
  <a:themeElements>
    <a:clrScheme name="Laboratorio DNS">
      <a:dk1>
        <a:srgbClr val="1A2B34"/>
      </a:dk1>
      <a:lt1>
        <a:srgbClr val="FFFFFF"/>
      </a:lt1>
      <a:dk2>
        <a:srgbClr val="0F2A3D"/>
      </a:dk2>
      <a:lt2>
        <a:srgbClr val="EEF3F4"/>
      </a:lt2>
      <a:accent1>
        <a:srgbClr val="1B7F79"/>
      </a:accent1>
      <a:accent2>
        <a:srgbClr val="F2A541"/>
      </a:accent2>
      <a:accent3>
        <a:srgbClr val="C8553D"/>
      </a:accent3>
      <a:accent4>
        <a:srgbClr val="3F8F4E"/>
      </a:accent4>
      <a:accent5>
        <a:srgbClr val="5E6E78"/>
      </a:accent5>
      <a:accent6>
        <a:srgbClr val="CFE6E3"/>
      </a:accent6>
      <a:hlink>
        <a:srgbClr val="1B7F79"/>
      </a:hlink>
      <a:folHlink>
        <a:srgbClr val="5E6E78"/>
      </a:folHlink>
    </a:clrScheme>
    <a:fontScheme name="Laboratorio D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DNS: hierarquia e delegação</dc:title>
  <dc:subject>PptxGenJS Presentation</dc:subject>
  <dc:creator>Equipe T1</dc:creator>
  <cp:lastModifiedBy>Equipe T1</cp:lastModifiedBy>
  <cp:revision>1</cp:revision>
  <dcterms:created xsi:type="dcterms:W3CDTF">2026-10-28T22:43:14Z</dcterms:created>
  <dcterms:modified xsi:type="dcterms:W3CDTF">2026-10-28T22:43:14Z</dcterms:modified>
</cp:coreProperties>
</file>